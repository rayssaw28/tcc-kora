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efbbb37be54f60" /><Relationship Type="http://schemas.openxmlformats.org/officeDocument/2006/relationships/extended-properties" Target="/docProps/app.xml" Id="Rd68bd9fa9dc145b0" /><Relationship Type="http://schemas.openxmlformats.org/officeDocument/2006/relationships/officeDocument" Target="/ppt/presentation.xml" Id="Rcc7abcf54252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62b116c2194a77"/>
  </p:sldMasterIdLst>
  <p:notesMasterIdLst>
    <p:notesMasterId xmlns:r="http://schemas.openxmlformats.org/officeDocument/2006/relationships" r:id="R6f3ef13473884286"/>
  </p:notesMasterIdLst>
  <p:sldIdLst>
    <p:sldId xmlns:r="http://schemas.openxmlformats.org/officeDocument/2006/relationships" id="256" r:id="Redeed281529a4743"/>
    <p:sldId xmlns:r="http://schemas.openxmlformats.org/officeDocument/2006/relationships" id="257" r:id="R33faa78fc4554640"/>
    <p:sldId xmlns:r="http://schemas.openxmlformats.org/officeDocument/2006/relationships" id="258" r:id="Rbb8c21c9fab44009"/>
    <p:sldId xmlns:r="http://schemas.openxmlformats.org/officeDocument/2006/relationships" id="259" r:id="R6a3e395961d649f7"/>
    <p:sldId xmlns:r="http://schemas.openxmlformats.org/officeDocument/2006/relationships" id="260" r:id="R78b4728b0b294dc9"/>
    <p:sldId xmlns:r="http://schemas.openxmlformats.org/officeDocument/2006/relationships" id="261" r:id="R34a3315e33064ec1"/>
    <p:sldId xmlns:r="http://schemas.openxmlformats.org/officeDocument/2006/relationships" id="262" r:id="Reb904be1fabc425c"/>
    <p:sldId xmlns:r="http://schemas.openxmlformats.org/officeDocument/2006/relationships" id="263" r:id="R02a193a7c1b14423"/>
    <p:sldId xmlns:r="http://schemas.openxmlformats.org/officeDocument/2006/relationships" id="264" r:id="R7130c41187b342a5"/>
    <p:sldId xmlns:r="http://schemas.openxmlformats.org/officeDocument/2006/relationships" id="265" r:id="Rb476598c90a543bc"/>
    <p:sldId xmlns:r="http://schemas.openxmlformats.org/officeDocument/2006/relationships" id="266" r:id="R774b4f8feba547cb"/>
    <p:sldId xmlns:r="http://schemas.openxmlformats.org/officeDocument/2006/relationships" id="267" r:id="Raad036b032d84e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bb48cb1c334784" /><Relationship Type="http://schemas.openxmlformats.org/officeDocument/2006/relationships/slideMaster" Target="/ppt/slideMasters/slideMaster1.xml" Id="R2062b116c2194a77" /><Relationship Type="http://schemas.openxmlformats.org/officeDocument/2006/relationships/notesMaster" Target="/ppt/notesMasters/notesMaster1.xml" Id="R6f3ef13473884286" /><Relationship Type="http://schemas.openxmlformats.org/officeDocument/2006/relationships/presProps" Target="/ppt/presProps.xml" Id="R8b7c2e282d1347d5" /><Relationship Type="http://schemas.openxmlformats.org/officeDocument/2006/relationships/tableStyles" Target="/ppt/tableStyles.xml" Id="Rbfd7aa6cb4414a54" /><Relationship Type="http://schemas.openxmlformats.org/officeDocument/2006/relationships/slide" Target="/ppt/slides/slide1.xml" Id="Redeed281529a4743" /><Relationship Type="http://schemas.openxmlformats.org/officeDocument/2006/relationships/slide" Target="/ppt/slides/slide2.xml" Id="R33faa78fc4554640" /><Relationship Type="http://schemas.openxmlformats.org/officeDocument/2006/relationships/slide" Target="/ppt/slides/slide3.xml" Id="Rbb8c21c9fab44009" /><Relationship Type="http://schemas.openxmlformats.org/officeDocument/2006/relationships/slide" Target="/ppt/slides/slide4.xml" Id="R6a3e395961d649f7" /><Relationship Type="http://schemas.openxmlformats.org/officeDocument/2006/relationships/slide" Target="/ppt/slides/slide5.xml" Id="R78b4728b0b294dc9" /><Relationship Type="http://schemas.openxmlformats.org/officeDocument/2006/relationships/slide" Target="/ppt/slides/slide6.xml" Id="R34a3315e33064ec1" /><Relationship Type="http://schemas.openxmlformats.org/officeDocument/2006/relationships/slide" Target="/ppt/slides/slide7.xml" Id="Reb904be1fabc425c" /><Relationship Type="http://schemas.openxmlformats.org/officeDocument/2006/relationships/slide" Target="/ppt/slides/slide8.xml" Id="R02a193a7c1b14423" /><Relationship Type="http://schemas.openxmlformats.org/officeDocument/2006/relationships/slide" Target="/ppt/slides/slide9.xml" Id="R7130c41187b342a5" /><Relationship Type="http://schemas.openxmlformats.org/officeDocument/2006/relationships/slide" Target="/ppt/slides/slide10.xml" Id="Rb476598c90a543bc" /><Relationship Type="http://schemas.openxmlformats.org/officeDocument/2006/relationships/slide" Target="/ppt/slides/slide11.xml" Id="R774b4f8feba547cb" /><Relationship Type="http://schemas.openxmlformats.org/officeDocument/2006/relationships/slide" Target="/ppt/slides/slide12.xml" Id="Raad036b032d84e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577e5ee4b8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onformia">
  <a:themeElements>
    <a:clrScheme name="Conformi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formi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8cffefe15247e9" /><Relationship Type="http://schemas.openxmlformats.org/officeDocument/2006/relationships/notesMaster" Target="/ppt/notesMasters/notesMaster1.xml" Id="R943d60d7d65747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f79b9bd821443b" /><Relationship Type="http://schemas.openxmlformats.org/officeDocument/2006/relationships/notesMaster" Target="/ppt/notesMasters/notesMaster1.xml" Id="R2b0affdcaaf645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610947ef3d447d" /><Relationship Type="http://schemas.openxmlformats.org/officeDocument/2006/relationships/notesMaster" Target="/ppt/notesMasters/notesMaster1.xml" Id="R9e2b11f433c84a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24b6b12b774477" /><Relationship Type="http://schemas.openxmlformats.org/officeDocument/2006/relationships/notesMaster" Target="/ppt/notesMasters/notesMaster1.xml" Id="Rf0a20f90b8ff4a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fd290c053d40dc" /><Relationship Type="http://schemas.openxmlformats.org/officeDocument/2006/relationships/notesMaster" Target="/ppt/notesMasters/notesMaster1.xml" Id="R3a61cf2ea5174f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b1183dc8234f24" /><Relationship Type="http://schemas.openxmlformats.org/officeDocument/2006/relationships/notesMaster" Target="/ppt/notesMasters/notesMaster1.xml" Id="R5f31a2c2634747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ac980332834e0a" /><Relationship Type="http://schemas.openxmlformats.org/officeDocument/2006/relationships/notesMaster" Target="/ppt/notesMasters/notesMaster1.xml" Id="Rb931f15e02b143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1367a0611e4ef3" /><Relationship Type="http://schemas.openxmlformats.org/officeDocument/2006/relationships/notesMaster" Target="/ppt/notesMasters/notesMaster1.xml" Id="R3d245883240546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40ce4557b241ac" /><Relationship Type="http://schemas.openxmlformats.org/officeDocument/2006/relationships/notesMaster" Target="/ppt/notesMasters/notesMaster1.xml" Id="Rba39d3db1dfc4f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464369199a4931" /><Relationship Type="http://schemas.openxmlformats.org/officeDocument/2006/relationships/notesMaster" Target="/ppt/notesMasters/notesMaster1.xml" Id="Rde102d6e74ce47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c28798d74243fe" /><Relationship Type="http://schemas.openxmlformats.org/officeDocument/2006/relationships/notesMaster" Target="/ppt/notesMasters/notesMaster1.xml" Id="Rd2bee0fb9aa046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a28dce6cce41c9" /><Relationship Type="http://schemas.openxmlformats.org/officeDocument/2006/relationships/notesMaster" Target="/ppt/notesMasters/notesMaster1.xml" Id="R3fb830deee524f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0cd5fbcf14a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7afdf638a94d04" /><Relationship Type="http://schemas.openxmlformats.org/officeDocument/2006/relationships/slideLayout" Target="/ppt/slideLayouts/slideLayout1.xml" Id="R5e0e40a280204a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0e40a280204a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onformia">
  <a:themeElements>
    <a:clrScheme name="Conformi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formi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ff78eeb044f26" /><Relationship Type="http://schemas.openxmlformats.org/officeDocument/2006/relationships/image" Target="/ppt/media/image.png" Id="Ra36d94d578ed45c6" /><Relationship Type="http://schemas.openxmlformats.org/officeDocument/2006/relationships/notesSlide" Target="/ppt/notesSlides/notesSlide1.xml" Id="Rb1f84f0418d845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4bea89cc949d7" /><Relationship Type="http://schemas.openxmlformats.org/officeDocument/2006/relationships/notesSlide" Target="/ppt/notesSlides/notesSlide2.xml" Id="R4441c4d547f445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30f25d3e94741" /><Relationship Type="http://schemas.openxmlformats.org/officeDocument/2006/relationships/notesSlide" Target="/ppt/notesSlides/notesSlide3.xml" Id="Rac8b806aa40643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de91c0351478d" /><Relationship Type="http://schemas.openxmlformats.org/officeDocument/2006/relationships/notesSlide" Target="/ppt/notesSlides/notesSlide4.xml" Id="R02818c0b94c047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fe320e46442c4" /><Relationship Type="http://schemas.openxmlformats.org/officeDocument/2006/relationships/notesSlide" Target="/ppt/notesSlides/notesSlide5.xml" Id="R080a9d1f18314d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2db26708a4d51" /><Relationship Type="http://schemas.openxmlformats.org/officeDocument/2006/relationships/notesSlide" Target="/ppt/notesSlides/notesSlide6.xml" Id="Rc796e2b677e24d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c2b1d398d473a" /><Relationship Type="http://schemas.openxmlformats.org/officeDocument/2006/relationships/notesSlide" Target="/ppt/notesSlides/notesSlide7.xml" Id="Rb10302a9340e40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390799c3d4d52" /><Relationship Type="http://schemas.openxmlformats.org/officeDocument/2006/relationships/notesSlide" Target="/ppt/notesSlides/notesSlide8.xml" Id="R5c1af8abe81444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c91e26f2540ef" /><Relationship Type="http://schemas.openxmlformats.org/officeDocument/2006/relationships/image" Target="/ppt/media/image2.png" Id="R98dd14d4580a4e39" /><Relationship Type="http://schemas.openxmlformats.org/officeDocument/2006/relationships/notesSlide" Target="/ppt/notesSlides/notesSlide9.xml" Id="R465520e3265746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7b1475e6d4218" /><Relationship Type="http://schemas.openxmlformats.org/officeDocument/2006/relationships/image" Target="/ppt/media/image3.png" Id="R8062611904de42fa" /><Relationship Type="http://schemas.openxmlformats.org/officeDocument/2006/relationships/notesSlide" Target="/ppt/notesSlides/notesSlide10.xml" Id="Ref75d133700740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fc9c06e444994" /><Relationship Type="http://schemas.openxmlformats.org/officeDocument/2006/relationships/notesSlide" Target="/ppt/notesSlides/notesSlide11.xml" Id="R71f0ebea9f8840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c54a619824c31" /><Relationship Type="http://schemas.openxmlformats.org/officeDocument/2006/relationships/image" Target="/ppt/media/image4.png" Id="Rdd776d9bb56f4100" /><Relationship Type="http://schemas.openxmlformats.org/officeDocument/2006/relationships/notesSlide" Target="/ppt/notesSlides/notesSlide12.xml" Id="R623991fd4c8c4f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0FC54-9D1F-4D5F-83BD-AB8962AB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0D0F1-5B74-47D9-8454-D52FCE6B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-1428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A1713-AD8B-4474-A8A4-E096A6CB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53340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35483-B766-4B80-8604-AA94F769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d94d578ed45c6"/>
          <a:stretch xmlns:a="http://schemas.openxmlformats.org/drawingml/2006/main"/>
        </p:blipFill>
        <p:spPr>
          <a:xfrm xmlns:a="http://schemas.openxmlformats.org/drawingml/2006/main">
            <a:off x="727138" y="638175"/>
            <a:ext cx="355474" cy="36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EBF53-BD64-4529-A64B-CA7D428E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7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Conformia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D7EDF-3049-4A26-93A7-EA88E66A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2D0B4-DBA4-4EF4-B4F0-4019AC8C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FDBF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BFDBFE"/>
                </a:solidFill>
                <a:latin typeface="Montserrat"/>
                <a:ea typeface="Montserrat"/>
                <a:cs typeface="Montserrat"/>
              </a:rPr>
              <a:t>GESTÃO DE PESSOAS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03192-5EA7-4AE8-961C-26B66D0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Seu RH mais humano,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simples e conectado.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75373-75C9-4952-AAD9-CA2A23C4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Uma plataforma centralizada para documentos, jornada, benefícios e desenvolvimento de pessoas.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88288-856E-4582-A70B-18C124E8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93C5FD"/>
                </a:solidFill>
                <a:latin typeface="Montserrat"/>
                <a:ea typeface="Montserrat"/>
                <a:cs typeface="Montserrat"/>
              </a:rPr>
              <a:t>PROJETO INTEGRADOR  • 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CD83B-82AC-481F-931A-E6C62FAA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76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Apresentação acadêmica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17B10-367D-4BFA-9316-D89EE988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Kora Inc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EC75E-F302-47F5-8056-62721989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Equipe responsável pelo desenvolvimento do Conformia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B165A-1544-4E03-AE4C-33F12D67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33380-886B-400C-A306-46E6822A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323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B5700-688A-4675-888A-E3408F03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4322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AD080-0F79-40B5-8D9A-42E33839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956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Rayssa Rodrigues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5CCEE-CAC9-4597-8A10-C3DD776F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8AAAF-8D34-484A-A1C9-012E9AFD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323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47782-1165-4D84-A15D-FCF0F51C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7187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BF9FA-3F33-4AD4-AD48-D8690F42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Pedro Assumpção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628FB-0D0D-416D-8415-E69E2CB4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3BB0CD-94D1-481B-8EA1-A6D876D6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33850"/>
            <a:ext cx="323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2E8D0-9D06-422E-B752-50D996B3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0052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0D1A60-7426-4837-B3D6-E98A6A0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529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Kauã Honorato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30BF79-657C-4EBF-A576-4F21663B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259AA-6927-450B-AF56-CFA274DC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3238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A43CFD-7F67-476C-BEC8-D17FD69B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29175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5E62A2-B7D5-4523-9F62-E5EABA69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81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Wagner Gomes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CCC374-7318-4D1C-84BE-4615B8D8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10303C-350F-4063-8C93-5AFE2BB4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9192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3F2FC-BA41-4E09-A982-FC527448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1C4C6-8E32-4CB9-AC80-0A74FFF8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530E6-1EF9-43CB-A137-FE374AAA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O RH perde tempo onde deveria gerar valor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8DA82-2895-44D8-9365-7F2E2486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Processos fragmentados aumentam retrabalho, dúvidas e falta de visibilidade.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689DB-45A1-4C2C-8048-DC2973F2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3718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1C08A-6265-4BAA-A375-8542F156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DCEBC-A4A7-400B-9FE8-066F4E7E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211DA-32B9-4537-A585-72B60AFE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Admissões lentas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CC460-46D4-4F5B-8321-02920D44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Documentos dispersos e conferências manuais atrasam a entrada de novos colaboradores.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46496-40FF-4855-9412-9FEBA7F6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33718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40E23-D52D-4695-8A05-10BF44C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F02F5-F33E-444C-8D70-7019A2F4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0844F-1EDF-455F-9274-C6CD5D45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Informação difícil de localizar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E3580-1BA0-44D6-A8E6-91FEA2F9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CPF, CTPS, comprovantes, atestados e holerites ficam espalhados em canais diferentes.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8DBB8-4D6C-4A2B-87DD-410391DA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47875"/>
            <a:ext cx="33718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9B783-9798-4D2E-8E9F-677C1EF9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383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33AA5-014A-4C4F-906C-E64D673C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38DCF-301B-4950-82F2-181B61E1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Pouca transparência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9C59A-EFF6-4C74-A341-8717805B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33675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O colaborador depende do RH para acompanhar dados, solicitações e pendências.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E1F55-CF29-4E04-8505-97AD26CD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33718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DD28F-060F-414C-A9F1-B52D2B14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910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5E6A23-4E4C-4505-971E-A1595427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95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FED0F-4350-4752-82EF-834461F0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200525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Sobrecarga operacional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3399C-917D-413F-8126-E9A41767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86300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Dúvidas repetitivas e consultas simples consomem tempo da equipe.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F829A-A4C6-400F-849F-C4AFFCB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00500"/>
            <a:ext cx="33718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0B8A20-4DCC-4332-A936-11DF942D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910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53737B-0057-4D09-9334-40094B5D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95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FB3597-7884-45DA-B745-54A056A3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200525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Gestão desconectada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420440-3ED4-4911-89B1-25E2F74F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86300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Jornada, estrutura e desenvolvimento não aparecem em uma visão integrada.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A9FAD9-3BCA-4169-90CC-9FE8D3D9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756D59-1DE7-41F0-9765-8100DE75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8797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F6F026-7248-4ED4-BE26-C927D164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C7032-57C6-4CBE-AB7C-A11AC10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57799-FC1F-4F9A-8760-3AEBD529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Foco em empresas que precisam organizar o RH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8E037-22B2-4FFE-A276-E223F2EB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O ponto de partida são pequenas e médias empresas com equipes enxutas.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EC186-411B-41FD-9948-FBDB346D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3718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4882A-846F-45C2-9F34-C81435E5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AB0E7-E17D-43A9-B1BB-244D5CB6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PME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D339C-F2A8-46DF-88D0-8D586005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Pequenas e médias empresas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38E31-D487-4BE5-8C69-D5B31899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Negócios que desejam digitalizar a gestão de pessoas sem aumentar a complexidade.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77572-EEFF-43EE-B46B-F2361250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33718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39B69-8AEC-42BE-A545-C74864FC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AD0AF-3435-469D-ABFE-A675FC52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717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1E56D-2DA8-4703-966B-0E33661E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Equipes de RH reduzidas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89892-28A5-4D8A-BE25-8C0D71A2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86200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Profissionais que precisam atender mais colaboradores com menos tarefas manuais.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DF9BF-E4B9-4316-AF8D-55AFE441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33718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BDACE-D949-4007-B301-535EC78F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AB8E0-FF5C-4545-A11D-2A82CB3C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717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C4BE2-969D-4A4F-8494-5546C430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Operações ainda manuais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66859-166C-45D1-921D-AE95534A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Empresas que dependem de papel, planilhas, e-mails e mensagens para controlar documentos.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22195-D422-465E-8CAB-4D0984D7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41E02-5A75-4558-BC78-FFE0E087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530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47857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047857"/>
                </a:solidFill>
                <a:latin typeface="Montserrat"/>
                <a:ea typeface="Montserrat"/>
                <a:cs typeface="Montserrat"/>
              </a:rPr>
              <a:t>SEGMENTO COMPLEMENTAR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C5DA8-8EDB-4E54-A860-18C00FCE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24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Consultorias de RH e escritórios de contabilidade que apoiam PMEs.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FFE98-E3FF-4B2F-8099-5B66D505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DD398-2792-4EA2-B33F-40E26DDD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1123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F267F-4120-4B50-9E95-4E08028A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44FBA-F8C7-4E7F-95BE-6D77A0EE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394C5-F95B-41AD-A887-9EF39807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Uma jornada contínua, da pré-admissão à rotina profissional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43CE6-63B5-4B93-BF7B-E6C6A103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O Conformia reúne informações e atividades em um ambiente centralizado e seguro.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A8AB4-AA59-4752-B314-ADF5B55E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FFCDE-F376-47C8-A000-6091A7B0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E9A03-706D-481F-B64E-38E4FF7C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3C5FD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93C5FD"/>
                </a:solidFill>
                <a:latin typeface="Montserrat"/>
                <a:ea typeface="Montserrat"/>
                <a:cs typeface="Montserrat"/>
              </a:rPr>
              <a:t>PROPOSTA DE VALOR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68F48-A087-4EF8-8F8C-4E6B8BC0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Tudo o que RH, gestores e colaboradores precisam encontrar.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2E17C-02E8-4043-BFC0-1E79813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21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Menos tarefas manuais, mais autonomia para as pessoas e mais controle para o RH.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7E314-892A-4B6B-8C54-B55A1D63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F0B45-7B56-48E1-BC23-5EAF2747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47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6E6E1-B68A-43E7-AA27-6FD30522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81275"/>
            <a:ext cx="38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B85BE-8105-4B26-9515-61963F3E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Pré-admissão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9DAFD-BB2E-49D6-9E18-1A1817D7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Cadastro, documentos e aprovação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33E7E-0D33-4156-BBDF-A02DD279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149A8-38C3-4561-BEAB-1B33AFDD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24A86-F8B6-4B6A-9778-19462C13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38525"/>
            <a:ext cx="38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1DEF0-F8C0-43DE-B7AF-D6FAC788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33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Integração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ABCA3-3546-4C55-8EE5-038A0C97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Dados profissionais e estrutura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9801A-1594-4BF5-92DC-6C460067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FDE56-60BB-4803-8231-A0DAFE26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624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C3CEB-337A-4107-A4D9-6006C09D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95775"/>
            <a:ext cx="38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0B37A-6F82-422E-958C-1CF87814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90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Rotina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B459A-887E-4790-84A2-297821E6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14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Jornada, benefícios e holerites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FFBF9-6B57-4EF1-808C-629D2534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86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11C884-83CC-4C78-B578-4D164B4E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9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3F9563-46C3-43A4-8D72-559C92B7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48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Desenvolvimento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B6333-E1EF-46B3-996B-1EF8647E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Avaliações, feedbacks e histórico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EDBFE7-CDB7-4697-8E86-0D9B8FF2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1571625" cy="272415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AFD988-3ACF-4874-BD0B-C1000326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24150"/>
            <a:ext cx="12477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UM</a:t>
            </a:r>
          </a:p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SÓ</a:t>
            </a:r>
          </a:p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LUGAR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E67590-ECA9-45B3-8EA5-2FE07BDC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470DAD-D912-4DAB-86BB-12466EB7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1674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93FAA6-1801-40AB-918C-31CFB0D0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8EBEA-E4DC-457C-961D-0111AB4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81DD8-2B8F-48E0-A159-F2637289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Os principais módulos trabalham de forma integrada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BEA94-DD9B-4F23-8484-0D8F55DE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A experiência reduz trocas de sistema e organiza a rotina por contexto.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A12C4-0B5C-4056-B032-ABAFB86B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76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A33EA-7667-463B-BD6A-40030B5F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AB0C0-AC98-4179-97A2-ABB51A85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8E4E5-75A2-4AE9-9D8C-D240F330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14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Colaboradores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9A63B-1B2B-4F82-8FD1-35A42B6E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Cadastro, departamentos, cargos e histórico.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2F4F7-02CA-4687-BB81-35F62230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476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B3497-959B-47AA-9D9A-D25A7E27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08F2D-A4A4-4F1C-B719-5D2E6231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0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AD4F1-1E12-463F-90E2-375CC720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14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Documentos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5BD7F-87EB-4A69-B9FE-2128773D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Envio, análise, aprovação e download.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FF877-CEC5-42A3-8C1A-CAE68580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2476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DDB40-F0EE-47BE-93F2-3BF51D0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B3F38-C15E-4A0D-B75A-4C71088C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0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4DBF4-29B2-4D03-BCFB-BC25BFA0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Benefícios e salários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B57E7-080B-4189-9D33-32661DC4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Visão por departamento e demonstrativos.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A73F2-D601-4BAE-9EE4-BD55438C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2476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2E7B0-14C6-466B-B53C-F06AB04D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2F616-76D8-4A98-B265-0E4BE460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0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D4AB1-D09A-4D85-A6FF-9CFFBB2B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14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Holerites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3EF2F-6DD2-44F9-8941-886015B6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PDF oficial e explicação dos valores.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994A3A-5204-4602-8854-680B18D3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2476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D7699-5812-4AEC-BB80-6CFF4A4D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A312E3-B8DB-4F25-8206-CBAD67D2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JO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05FA38-0C67-4037-B352-E77C407D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Jornada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176FFA-2D14-4AE0-A84A-763C6404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Espelho de ponto, saldos e ocorrências.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20249F-2704-478E-8E8A-DF26841F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05200"/>
            <a:ext cx="2476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840B8C-E29D-480A-96C5-4C99C01A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DEE5A3-9D0B-46E6-BE4B-71EEEA5F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814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7ECA7-701B-4A1E-A4ED-A5C3D825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95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Organograma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ADB8F6-8974-4EE6-96C7-FA3460DE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291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Hierarquia, gestores e equipes.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EB0C47-EB94-4B2B-9EF1-EFCD49DE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5200"/>
            <a:ext cx="2476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2272C1-BD44-403D-B70D-650A13A0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2BB8D7-08A3-4752-99A7-E99006D4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814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798386-D7E5-419C-8DB0-12B76322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95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Avaliações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87C476-5275-4950-BEE0-BCA54185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Desempenho, critérios e feedbacks.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FD3A09-45D3-4C31-B820-E3B93807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05200"/>
            <a:ext cx="2476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2AFB87-293F-4B6B-9A50-0441F770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94E8A1-1924-47E1-A86F-193E5FB5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814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23B9E6-6DC2-4250-9CC3-397E223C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957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Atestados e LGPD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B7EB35-0E4F-423C-967A-11D87DDE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291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Solicitações, status e consentimentos.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89492E-4456-4FDF-9CF1-D6A26F5D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8701C9-E329-498F-8AF1-E928A203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0675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Um painel inicial conecta notificações, pendências e atalhos para todos os módulos.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95B4EE-DA5D-430B-9092-EB168CB8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84886F-4D2A-47D1-AC74-2C257E35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3517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CF0ACC-DC44-4B6F-A1D0-377414CF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AA77E-C4F3-4E53-B0BE-7AB33EC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CF24E-0C59-4602-85B1-1B433209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Cada pessoa enxerga apenas o que precisa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AAA4F-29A7-4216-9A63-899228B9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Perfis e hierarquia organizacional orientam a experiência e o acesso aos dados.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BA67F-928A-4F0A-B6BC-AE480091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71850" cy="36195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921FB-CC60-4C4F-A775-A185003D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C174F-3635-4914-ACBD-ABB43629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E96E4-A0B3-4F36-8723-A2600BF4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Administrador de RH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07AC0-F575-43E3-A803-09AD03DF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9EF7A-DA78-491E-AFBB-20060F0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A316A-ECCC-48C0-85FA-8AAAAB03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52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Visão geral da empresa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6AC20-3B70-4062-B2CE-405176A6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3D0CE-2C47-425F-9AE0-E0590E2E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64018-A2AB-4C76-9882-B848A1CE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Cadastros e aprovações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D2D8C-5348-4650-83B7-1BA4B9A3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FD378-53D1-4647-9035-1918EB37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95258-1950-440A-9E9B-D3395E6A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0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Documentos e salários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03997-9255-46C2-91F8-98A03E22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B4600-F57A-479A-8E67-A9F8DE1F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192CF4-4B9F-4D72-A200-E1436561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Gestão de permissões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02530-A690-4BF1-B83D-D4955CCA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371850" cy="36195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95A98-C3A1-4764-ACD5-B1A2EA55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F94A3-C9B8-4257-88CD-C060611C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955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3C5FD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93C5FD"/>
                </a:solidFill>
                <a:latin typeface="Montserrat"/>
                <a:ea typeface="Montserrat"/>
                <a:cs typeface="Montserrat"/>
              </a:rPr>
              <a:t>GESTOR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234E9-743D-4CAC-8CE9-9EBF780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Gestor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60821D-A9CC-4D14-9558-97B509D3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81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572775-9B2D-4E79-844F-17F5ABDD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909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E083E-75AF-4400-989C-9E2F699C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52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E8F0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E2E8F0"/>
                </a:solidFill>
                <a:latin typeface="Montserrat"/>
                <a:ea typeface="Montserrat"/>
                <a:cs typeface="Montserrat"/>
              </a:rPr>
              <a:t>Visão da própria equipe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36A507-8B9E-44B5-A857-9264AD8E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0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A4F4D4-1352-4F1C-B34A-1BCA3D4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DB7294-16B3-487C-9161-D5B9B15D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81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E2E8F0"/>
                </a:solidFill>
                <a:latin typeface="Montserrat"/>
                <a:ea typeface="Montserrat"/>
                <a:cs typeface="Montserrat"/>
              </a:rPr>
              <a:t>Acompanhamento de jornada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F49456-CB5D-4054-8319-C225F8B3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9822E7-3896-4DFF-8327-DEE63050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4817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782858-EDE6-4C0B-A1AD-B7029CD1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10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E2E8F0"/>
                </a:solidFill>
                <a:latin typeface="Montserrat"/>
                <a:ea typeface="Montserrat"/>
                <a:cs typeface="Montserrat"/>
              </a:rPr>
              <a:t>Avaliações e feedbacks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256D17-14B2-437D-A898-C8AA67B9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E9016C-4B1C-430A-8D90-1F50F050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768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C4F1E3-135F-404D-837E-6B74772C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38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0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E2E8F0"/>
                </a:solidFill>
                <a:latin typeface="Montserrat"/>
                <a:ea typeface="Montserrat"/>
                <a:cs typeface="Montserrat"/>
              </a:rPr>
              <a:t>Dados autorizados da hierarquia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9B11C1-3E7C-49F4-A4F6-E65D1807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371850" cy="36195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5E28DD-37E5-43DC-8DDC-0661DC8E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52274B-5DCE-450A-B7FF-CAC57C9F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955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47857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047857"/>
                </a:solidFill>
                <a:latin typeface="Montserrat"/>
                <a:ea typeface="Montserrat"/>
                <a:cs typeface="Montserrat"/>
              </a:rPr>
              <a:t>COLAB.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A74902-46AB-4F4F-8BD3-7E35EFBE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Funcionário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27A00A-D73D-4509-9B13-4D1ACA0A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B1A779-40E2-4535-B7B0-C374C9D2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909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A42CA1-E537-44C9-B94D-1E435F9C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52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Dados pessoais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ECF149-A0EA-4524-B918-62B45CB4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0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917607-F333-4F35-B4D7-68D53E84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DEB61F-5EDA-4715-9FED-D5767D52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81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Documentos e atestados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6AD354-D33E-4C63-9ADD-CA358F02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CDAC0A-9D14-498F-8EEF-52CDFFF6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4817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8D9FD2-2CAC-45EB-8640-E515268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0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Benefícios e holerites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CE21D1-1F5C-45CF-BD61-5833B632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67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98960D-8BB1-460C-BB6C-A941C7AA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07A664-5CC6-4307-A2FE-9695D9F8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38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Jornada e avaliações próprias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1D3D27-AA47-43A5-9AE9-23381DBA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799CCB-C845-42C1-8EE4-32910F6D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7254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7C6E7-B17C-4FA2-A4EA-72B442E1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23867-B14C-4E18-AA3C-6E9B7B3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46ECF-52D4-4EA2-886A-BE88EB9D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Arquitetura moderna, modular e preparada para múltiplas telas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321EA-D28E-4EEC-8738-D3899B9C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Frontend responsivo, API REST e persistência com migrações controladas.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BA7F4-F045-42D1-9ADF-E8A81F39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190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3E8BA-7658-4DE2-A22D-36A24EF9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52700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54B63-DC55-44B5-BD44-5C7BE0AA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574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WEB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5B34B-05A6-47F6-9242-346F9F4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Expo + React Native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77527-6867-44D8-97A1-C935235B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62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58F73-451B-4205-BCA2-CB4B3E29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2190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FE39D-EEB8-4FAA-A63A-2E079557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552700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C802A-D73C-4264-AE4B-F52550C0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574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API 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5FB96-1350-456A-9243-4DE0148F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24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Spring Boot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D76DF-2D83-4A57-BC40-9259F71E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62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109F9-8F28-4DB3-9271-0B7FFF10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24100"/>
            <a:ext cx="2190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F5C75-299B-4DB7-B95F-E71991EF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52700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44B26-3EDC-46B2-A7FF-319B6A2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574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5378F-5467-4086-841C-97CA97D7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PostgreSQL / H2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E8B89-9E7A-4FFE-8F52-715F2FE0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62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B7E57-5C01-4DD3-90E5-20CC47D3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190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D130D-EDF7-4CCB-BA48-96020652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552700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3A555-A8FD-4FE2-9338-A9A964E8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6574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64902-6EAC-4C62-8D8E-9D86325C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PDFs e documentos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5BAE0-0D32-4735-828B-60918870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D642F-7D54-4D82-9A2C-B866CEF7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529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TYPESCRIPT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89AC8-E6E1-4528-818B-F8CE58BA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10B60-CEA2-4FCB-9C8B-A728BE1B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529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AXIOS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5E72D-A5BE-41B5-9482-14DDB0BF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86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25AC80-4B4B-4E41-A60A-BB17AF0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529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JAVA 21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591B6-F0C4-4271-95BE-A4922A7F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86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0D6F61-FF8F-407C-9513-DD2CB54C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529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JWT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482108-8325-437B-A2A5-93BF590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86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2DA16E-B794-4AE5-B902-AE7A84A8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529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FLYWAY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EF20F2-0451-44E6-933C-7156F216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98373C-6A69-4162-99DA-6962A552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529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OPENAPI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7ECAE9-EB67-4736-9DCE-EAF48F73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9590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Perfil demo: banco H2 em memória para apresentação sem dependência de infraestrutura externa.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7D531E-5DFC-4956-ADF0-31B71A12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691C18-DC31-4C6F-BAD0-8AB338A3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5939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9F707-87A3-44C2-BB92-FEEC6056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A100A-0D6F-4159-8CBE-A21D6AAC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3C5FD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93C5FD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DE102-8129-4DB9-A9B0-61E7F08B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Segurança e privacidade fazem parte do fluxo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4AE18-4B50-4BEE-83D6-57ABE35F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A proteção acontece desde o login até a consulta de documentos e dados pessoais.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97781-B6AE-49CF-9960-C6ADB279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333625" cy="2333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20155-9987-4D7B-9F87-AF47C2FD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1419225" cy="1419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8E7CD-D65D-469C-BF49-148FAF08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385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DADOS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SEGUROS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A2902-020C-4FF1-B331-77CBCE1A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5623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6213B"/>
          </a:solidFill>
          <a:ln xmlns:a="http://schemas.openxmlformats.org/drawingml/2006/main" w="9525">
            <a:solidFill>
              <a:srgbClr val="2633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419A1-86BF-4FEA-A221-A07FBA16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27CB6-6C84-4437-99E5-3E62B7D8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4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JWT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635F5-0BB9-4081-8AB7-266E4A94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Autenticação por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FDCC6-473F-4071-A77A-DA0B4F01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908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Sessões protegidas e rotas autenticadas.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07F21-1FD9-45D1-BA9A-C7A6B7E6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47900"/>
            <a:ext cx="35623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6213B"/>
          </a:solidFill>
          <a:ln xmlns:a="http://schemas.openxmlformats.org/drawingml/2006/main" w="9525">
            <a:solidFill>
              <a:srgbClr val="2633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FAF34-E18C-4B67-9F38-48515CE8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3840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2E925-0B95-47D6-BA71-7CECFEC2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4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88FB7-78F0-491E-B678-A5E7F0A5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BCrypt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780BE-DD7E-4C34-A8F6-64FEABAD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908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Senhas armazenadas de forma criptografada.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7DF24-56EF-4261-85A6-FBE3BF5B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35623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6213B"/>
          </a:solidFill>
          <a:ln xmlns:a="http://schemas.openxmlformats.org/drawingml/2006/main" w="9525">
            <a:solidFill>
              <a:srgbClr val="2633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9B685-17E3-485A-82ED-750A948E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955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A72CA-E322-45F9-BC68-57F7B33E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24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ACL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F4D03-31C0-4C37-AC93-D3C51A01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38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Acesso por perfil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6F57A-05A8-4CD1-93D1-76CB2EFF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Administrador, gestor e funcionário com escopos diferentes.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6206F-2C9F-4AC7-B157-F0EAF1D6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5623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6213B"/>
          </a:solidFill>
          <a:ln xmlns:a="http://schemas.openxmlformats.org/drawingml/2006/main" w="9525">
            <a:solidFill>
              <a:srgbClr val="2633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DD331-9401-4EDD-A568-A02CFEFA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9550"/>
            <a:ext cx="47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66C49-6089-4CF3-9B9F-0AB03EF5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24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4E8B0-D469-473C-B39D-B68E3E72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Consentimento e privacidade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EC700-68CD-400D-8F0D-348C4B5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72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Registro de aceite e acesso conforme necessidade.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5E0F84-AC23-43D5-959A-15134F46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245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93C5FD"/>
                </a:solidFill>
                <a:latin typeface="Montserrat"/>
                <a:ea typeface="Montserrat"/>
                <a:cs typeface="Montserrat"/>
              </a:rPr>
              <a:t>Princípio aplicado: cada perfil consulta somente informações próprias ou autorizadas pela hierarquia.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E5FD41-FDEF-4FCF-ACC4-AF005928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F85F25-9B31-49DF-B761-7788A0EB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4531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09B30-F5E1-42B1-826E-56B70C8F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52C10-C3F4-4966-A4C0-7760D323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F3BD5-D3AB-4483-86AA-4D5068A0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A demonstração percorre três experiências reais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2E13C-899E-488D-894A-A4E2D858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Administrador, gestor e funcionário mostram como a informação muda conforme o perfil.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1CAED-6733-42E7-B99C-9EA80618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8580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d14d4580a4e39"/>
          <a:stretch xmlns:a="http://schemas.openxmlformats.org/drawingml/2006/main"/>
        </p:blipFill>
        <p:spPr>
          <a:xfrm xmlns:a="http://schemas.openxmlformats.org/drawingml/2006/main">
            <a:off x="1158240" y="2105025"/>
            <a:ext cx="5760720" cy="3600450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A6279-C58E-4810-A3B3-900CC30B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92863-D151-4DA7-A2C6-07E9B4EC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669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FLUXO SUGERIDO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E13EC-6D12-4640-B72A-F534A608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52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A65B6-67D4-4B10-A0CF-739C22FE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907B0-B4CA-49DF-B93F-9BACF852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Administrador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51EB1-C7DF-4A30-B9F5-F153EFDA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Painel, colaboradores, documentos e salários.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11CEF-BF33-4040-A1F4-EC21E592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AD722-5763-48E8-8FC7-5BF1B1B6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38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64FD8-F8D4-4AD7-AB64-42FD9557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Gestor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78E44-42D7-4D4E-963F-97B0E3FB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Equipe, jornada, avaliações e feedbacks.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D956F-5F4B-420C-84AD-696F6374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71893-25A4-49F8-8D6D-304D2880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10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CBCCE-A75C-405A-83EA-C5D47E10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76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Funcionário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B3EEF-37CE-4A50-B995-5E0C81CA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006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Dados, holerite, benefícios e solicitações.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776DA-885A-4E4C-964C-3F3B066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3429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88D39-674A-4918-9FC9-5306D846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0225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47857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047857"/>
                </a:solidFill>
                <a:latin typeface="Montserrat"/>
                <a:ea typeface="Montserrat"/>
                <a:cs typeface="Montserrat"/>
              </a:rPr>
              <a:t>Dados demonstrativos e fictícios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57CF4-C295-4D36-8A9B-7777471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7450E-8A5C-4DAD-B4FF-D14A1045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9781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7F6A37-669D-42DC-81CA-F6589899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0D7BD-5215-40EF-AE8A-7163614E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F25DF-3E30-4197-9760-9FF407A7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O modelo de negócio acompanha o crescimento da empresa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77411-80B3-44CF-8509-9CA3A2B1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Assinatura por faixa de funcionários, com implantação e serviços adicionais.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AFC0B-E110-4944-A256-8746CF4E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4772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2611904de42fa"/>
          <a:stretch xmlns:a="http://schemas.openxmlformats.org/drawingml/2006/main"/>
        </p:blipFill>
        <p:spPr>
          <a:xfrm xmlns:a="http://schemas.openxmlformats.org/drawingml/2006/main">
            <a:off x="2045019" y="2038350"/>
            <a:ext cx="5415912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3B2E6-4EA7-48ED-B9E0-E4E2BC11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6215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74F0D-F52D-40E6-AB6E-245F994F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288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MODELO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FDBCE-4AC9-442A-965B-B2FEFAE0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Receita recorrente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9E26E-49C3-4EFC-A4E8-56637E3B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194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Assinatura mensal por faixas de colaboradores.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1A748-A550-42C7-BE30-93BCC4CB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50 → 100 → 150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2CF6C-1C93-4AA8-8AE4-7626CCFD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00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O valor aumenta somente quando a empresa muda de faixa.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D77A4-D8D7-4855-B508-E48AC122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720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851E4-44E3-4D4D-BCC0-9495F489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53025"/>
            <a:ext cx="1790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Implantação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serviços adicionais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9FEA4-8E11-40C6-AC17-0A3460DF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A363A-2FEA-46B8-9FB3-0B978C9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8443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264FAE-EDAB-49BE-9A7C-6642AE53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3CAE5-17E1-45CB-B5F1-179643B1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D4ED8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18DD3-B2AA-44BA-BF0C-E46DE02A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O MVP está funcional, validado e pronto para demonstração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DED40-D0C1-41EC-8CA1-D2FACD1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Os resultados técnicos confirmam estabilidade dentro do escopo acadêmico.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1AF77-8BBA-49A5-AC43-B0BC8DA8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718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6F4F7-4D45-46BB-AF67-0CB23A47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563EB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2563EB"/>
                </a:solidFill>
                <a:latin typeface="Montserrat"/>
                <a:ea typeface="Montserrat"/>
                <a:cs typeface="Montserrat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DC9EC-AD7B-4BC5-B5EC-B7D536E8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testes automatizados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77D86-CB8C-438C-BE5F-0FA4C21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Backend aprovado sem falhas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845DA-E83A-4498-A26F-5C5E9121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3718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411C8-1C5C-47D7-BFB3-844DFF8E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D6DF0-DCA5-4DD9-ABB9-ADF92D9F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05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perfis demonstráveis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D2DA7-29C5-4B5F-9C84-A777D35E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57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Administrador, gestor e funcionário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68AD6-CA79-4EAB-BD64-79733B41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3718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BDD1A-851E-4223-A7BB-B59B55EA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B981"/>
                </a:solidFill>
                <a:latin typeface="Montserrat"/>
                <a:ea typeface="Montserrat"/>
                <a:cs typeface="Montserrat"/>
              </a:defRPr>
            </a:pPr>
            <a:r>
              <a:rPr sz="3750" b="1">
                <a:solidFill>
                  <a:srgbClr val="10B981"/>
                </a:solidFill>
                <a:latin typeface="Montserrat"/>
                <a:ea typeface="Montserrat"/>
                <a:cs typeface="Montserrat"/>
              </a:rPr>
              <a:t>1.0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C3652-7F25-458F-A842-7068157A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versão do 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C714E-3084-4442-A2C5-C2416F21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Frontend e API sincronizados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6C865-7734-4A55-BBD7-0CAE14B5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Validações concluídas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CB685-3E7F-4DF1-A9E3-5B33A5F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5336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5A57A-E44C-4DCF-AFDA-2F626964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47857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047857"/>
                </a:solidFill>
                <a:latin typeface="Montserrat"/>
                <a:ea typeface="Montserrat"/>
                <a:cs typeface="Montserrat"/>
              </a:rPr>
              <a:t>✓  Lint e TypeScript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1B6217-B6ED-49F8-8A16-52D90947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52950"/>
            <a:ext cx="25336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812AF-0513-46ED-B3AE-D9B70292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577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47857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047857"/>
                </a:solidFill>
                <a:latin typeface="Montserrat"/>
                <a:ea typeface="Montserrat"/>
                <a:cs typeface="Montserrat"/>
              </a:rPr>
              <a:t>✓  Exportação web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F39230-672E-475D-A57E-C3547F9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25336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CF711-D759-4A22-8A52-531CC69D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47857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047857"/>
                </a:solidFill>
                <a:latin typeface="Montserrat"/>
                <a:ea typeface="Montserrat"/>
                <a:cs typeface="Montserrat"/>
              </a:rPr>
              <a:t>✓  Login e respostas HTTP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F2CF1-C1C8-4A23-9AAC-F05E6589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86350"/>
            <a:ext cx="25336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84A0F5-9D74-4673-80AE-2E22E09B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911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47857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047857"/>
                </a:solidFill>
                <a:latin typeface="Montserrat"/>
                <a:ea typeface="Montserrat"/>
                <a:cs typeface="Montserrat"/>
              </a:rPr>
              <a:t>✓  Swagger e API REST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80AB63-5968-453B-97C2-D6718375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9530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CD75F-35B3-4769-81CD-0DE230DD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9DF8A-D548-4C1A-8AF1-C1E49B18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529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D97706"/>
                </a:solidFill>
                <a:latin typeface="Montserrat"/>
                <a:ea typeface="Montserrat"/>
                <a:cs typeface="Montserrat"/>
              </a:rPr>
              <a:t>LIMITES DO MVP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C2B94A-FB81-4C82-BB87-D8EBFE0B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• Não realiza folha de pagamento oficial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• Não inclui cobrança ou contratação de planos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• Não substitui consultoria contábil ou trabalhista</a:t>
            </a:r>
          </a:p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334155"/>
                </a:solidFill>
                <a:latin typeface="Montserrat"/>
                <a:ea typeface="Montserrat"/>
                <a:cs typeface="Montserrat"/>
              </a:rPr>
              <a:t>• Integrações externas são demonstrativas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A735F6-FC83-4EFD-A112-E0B960FF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195308-95CE-4A2A-B633-D93795CC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362254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2771D-6FC8-432B-81A1-EEC88598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057F-5F21-4324-ACF4-D73842AD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5095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7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594D3-302C-4E0F-A002-C914E9AA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76d9bb56f4100"/>
          <a:stretch xmlns:a="http://schemas.openxmlformats.org/drawingml/2006/main"/>
        </p:blipFill>
        <p:spPr>
          <a:xfrm xmlns:a="http://schemas.openxmlformats.org/drawingml/2006/main">
            <a:off x="727138" y="638175"/>
            <a:ext cx="355474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B5556-5E66-4F27-B9BE-893C3070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7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Conformia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C1C03-B1A0-4A20-B036-A5BD865C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DDC64-2863-49FA-A654-F881EA6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3C5FD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93C5FD"/>
                </a:solidFill>
                <a:latin typeface="Montserrat"/>
                <a:ea typeface="Montserrat"/>
                <a:cs typeface="Montserrat"/>
              </a:rPr>
              <a:t>CONCLUSÃO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2A923-B134-4ACC-8AFC-E48440F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62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Organizar o RH também é cuidar melhor das pessoas.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CB1ED-AB3E-4A62-88D9-9BE6A6ED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O Conformia transforma informações dispersas em uma experiência clara, segura e conectada para toda a empresa.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61097-6723-4648-BE95-79B9B0CD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476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213B"/>
          </a:solidFill>
          <a:ln xmlns:a="http://schemas.openxmlformats.org/drawingml/2006/main" w="9525">
            <a:solidFill>
              <a:srgbClr val="2633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E2BC2-2AE5-4F79-911C-6B298469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93C5FD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F2657-8C17-46CF-B3B4-34B51113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Mais autonomia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25936-51DA-48A4-B7A8-5005356A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Informações acessíveis para colaboradores.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B2991-5BE2-45FB-B800-7F46A04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2476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213B"/>
          </a:solidFill>
          <a:ln xmlns:a="http://schemas.openxmlformats.org/drawingml/2006/main" w="9525">
            <a:solidFill>
              <a:srgbClr val="2633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236E6-44F9-4AC9-B01E-7382C058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19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93C5FD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C6C17-9612-4CF2-9678-29998B0D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95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Mais controle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9457E-0BF9-4E3D-848D-C8B7D666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9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Visibilidade para RH e gestores.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16F33-1384-4B08-BD3B-6E09E7D1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67250"/>
            <a:ext cx="2476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6213B"/>
          </a:solidFill>
          <a:ln xmlns:a="http://schemas.openxmlformats.org/drawingml/2006/main" w="9525">
            <a:solidFill>
              <a:srgbClr val="2633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3DF15-175A-4AEB-AC51-07CC5BF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9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93C5FD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BE2FF-50BA-4A0F-ADF8-3CF18045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95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Menos retrabalho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D1E2A-84F0-4963-A0E8-7B050831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9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CBD5E1"/>
                </a:solidFill>
                <a:latin typeface="Montserrat"/>
                <a:ea typeface="Montserrat"/>
                <a:cs typeface="Montserrat"/>
              </a:rPr>
              <a:t>Processos e documentos centralizados.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FC5AA-382F-4D8D-8F4F-DF20082C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Rayssa Rodrigues  •  Pedro Assumpção</a:t>
            </a:r>
          </a:p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Kauã Honorato  •  Wagner Gomes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1611A-D200-474A-B7C2-D6E59F37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14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93C5FD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93C5FD"/>
                </a:solidFill>
                <a:latin typeface="Montserrat"/>
                <a:ea typeface="Montserrat"/>
                <a:cs typeface="Montserrat"/>
              </a:rPr>
              <a:t>Obrigado.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37EC9-F740-4585-828C-D6CE07A0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CONFORMIA  •  PROJETO ACADÊMICO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B758D-0531-40CA-A3B8-0F954DB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234039"/>
      </p:ext>
    </p:extLst>
  </p:cSld>
</p:sld>
</file>

<file path=ppt/theme/theme1.xml><?xml version="1.0" encoding="utf-8"?>
<a:theme xmlns:a="http://schemas.openxmlformats.org/drawingml/2006/main" name="Conformia">
  <a:themeElements>
    <a:clrScheme name="Conformi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formi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2026-06-15T22:14:07.9490000Z</dcterms:created>
  <dcterms:modified xsi:type="dcterms:W3CDTF">2026-06-15T22:14:07.9490000Z</dcterms:modified>
</coreProperties>
</file>